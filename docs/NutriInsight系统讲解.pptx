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大家好，今天向大家汇报我开发的一套 AI 智能营养分析系统——NutriInsight Pro。它的核心能力是：只需用一句话描述这餐吃了什么，系统就能自动完成食物识别、份量估算和营养计算。目前项目已完成开发并部署上线，可以直接访问使用。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汇报分六个部分：先讲为什么要做这个系统，再讲产品定位，然后重点展开系统架构与两个关键模块的设计细节，最后用真实运行案例验证效果，并介绍部署与运维方案。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先看背景。手动记录饮食有三个痛点：一是查询繁琐，记一餐要逐个查热量表，要三五分钟；二是份量难估，「一碗」「一份」没有标准，误差很大；三是缺乏反馈，记了数字也不知道下一餐怎么调整。NutriInsight 把整个过程压缩成一句话、十秒钟。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产品定位一句话：让用户「一句话，读懂你的每一餐」。四个核心价值：零门槛记录、AI 自动识别、科学量化、个性化建议。用户没有任何学习成本，会说话就会用。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系统是典型的前后端分离三层架构：前端 React 18 负责记录与可视化；后端 Express 提供 REST API，用 JWT 做认证；数据层是云上的 PostgreSQL，通过 Drizzle ORM 访问。右侧是独立的 AI 服务，调用 DeepSeek 大模型。整体部署在 Render，代码推到 GitHub 就自动发布。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核心工作流四步：用户描述餐食，AI 拆解食材饮品和份量，系统计算五维营养素，最后对比个人目标生成建议。用户只需要做第一步，后面全部自动完成，全程五到十五秒。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 AI 识别模块。工程上做了多层保障：提示词注入餐次和过敏原上下文；用注册营养师角色约束输出格式；关键是开启 JSON Mode，保证返回结构化数据；再用 zod 做运行时校验兜底，异常输入返回友好中文提示；接口层还有限流和网络抖动自动重试。另外定了一些领域规则，比如饮品按 1 毫升约等于 1 克计重。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数据侧是一个闭环：用户档案（身高、体重、年龄、活动量、目标）通过 Mifflin-St Jeor 公式算出基础代谢，乘活动系数得到每日总消耗，再按增肌减脂目标调整，生成五维营养目标。之后每餐记录都和目标对比，形成缺口分析。所有数据存 PostgreSQL，按用户隔离，JWT 保护。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功能全景：六大功能全部实现——AI 食物识别、五维营养拆解、个性化目标定制、过敏原提醒、趋势仪表盘和即时健康建议，每一项都经过实际验证。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这是一个真实运行的识别案例：输入「一碗米饭，一份红烧肉，一杯 250 毫升牛奶，一个苹果」，系统识别出 4 种食物、合计 941 千卡，约 8 秒返回，结构化 JSON 一次通过校验。上线前还验证了前后端类型检查、注册登录、JWT 鉴权、识别接口和数据库迁移全链路。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部署方案：GitHub 托管代码，Render 负责云端构建与运行，Neon 提供 Serverless PostgreSQL。三个密钥全部放在平台环境变量里，不进代码仓库，保证安全。每次 git push 自动触发重新构建和发布，零人工运维。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总结：目前已经跑通了端到端的 AI 食物识别链路，实现了完整的营养管理闭环，并完成云端上线。下一步计划：一是接入视觉模型做拍照识别；二是联动运动与体重数据；三是支持家庭和好友共享健康报告。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 NutriInsight Pro 的全部汇报内容，谢谢大家，欢迎提问。项目源码在 GitHub 上，欢迎课后交流。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92040" y="0"/>
            <a:ext cx="457200" cy="5143500"/>
          </a:xfrm>
          <a:prstGeom prst="rect">
            <a:avLst/>
          </a:prstGeom>
          <a:solidFill>
            <a:srgbClr val="17402D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777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C8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AI-POWERED NUTRITION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1792" y="1234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NutriInsight</a:t>
            </a:r>
            <a:pPr indent="0" marL="0">
              <a:buNone/>
            </a:pPr>
            <a:r>
              <a:rPr lang="en-US" sz="4400" b="1" spc="250" kern="0" dirty="0">
                <a:solidFill>
                  <a:srgbClr val="F0C8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spc="150" kern="0" dirty="0">
                <a:solidFill>
                  <a:srgbClr val="EAF3E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智能营养分析系统 · 系统讲解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一句话，读懂你的每一餐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77240" cy="27432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· Express · TypeScript · PostgreSQL · DeepSeek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F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463040" y="512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43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50800" dist="25400" dir="16200000">
              <a:srgbClr val="1E2B2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AI 记饮食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1371600"/>
            <a:ext cx="26243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645160000" dist="322580000" dir="972000000000">
              <a:srgbClr val="1E2B23">
                <a:alpha val="22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55264" y="1371600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1536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38144" y="193852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产品定位与核心价值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38144" y="228600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一句话读懂每一餐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1371600"/>
            <a:ext cx="26243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8193532000000" dist="4096766000000" dir="58320000000000000">
              <a:srgbClr val="1E2B23">
                <a:alpha val="22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371600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536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36208" y="193852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36208" y="228600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 + AI 服务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26243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04057856400000000" dist="52028928200000000" dir="3.4992e+21">
              <a:srgbClr val="1E2B23">
                <a:alpha val="220000000000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71216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35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438144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核心工作流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37856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从一句话到营养报告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55264" y="2871216"/>
            <a:ext cx="26243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32153477628e+21" dist="660767388140000000000" dir="2.09952e+26">
              <a:srgbClr val="1E2B23">
                <a:alpha val="2.2e+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55264" y="2871216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3438144" y="3035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38144" y="3438144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关键模块详解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38144" y="37856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 · 数据与个性化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53328" y="2871216"/>
            <a:ext cx="26243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6783491658756e+25" dist="8.391745829378e+24" dir="1.259712e+31">
              <a:srgbClr val="1E2B23">
                <a:alpha val="2.2e+2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2871216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3035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36208" y="3438144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实测验证与部署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36208" y="37856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 · 云端上线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项目背景与痛点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2624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2.1315034406620118e+29" dist="1.0657517203310059e+29" dir="7.558272e+35">
              <a:srgbClr val="1E2B23">
                <a:alpha val="2.2e+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35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查询繁琐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242316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记录一餐要逐个食物查热量表，步骤多、耗时 3-5 分钟，很难长期坚持。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55264" y="1234440"/>
            <a:ext cx="2624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2.707009369640755e+33" dist="1.3535046848203775e+33" dir="4.5349632e+40">
              <a:srgbClr val="1E2B23">
                <a:alpha val="2.2e+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234440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435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56432" y="19842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份量难估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6432" y="242316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「一碗」「一份」没有标准，手工估算误差大，数据失真后失去参考价值。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1234440"/>
            <a:ext cx="2624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3.437901899443759e+37" dist="1.7189509497218795e+37" dir="2.72097792e+45">
              <a:srgbClr val="1E2B23">
                <a:alpha val="2.2e+4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1234440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4356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54496" y="19842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缺乏反馈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54496" y="242316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记了数字却看不懂：不知道距目标差多少、下一餐该怎么调整。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17402D"/>
          </a:solidFill>
          <a:ln/>
          <a:effectLst>
            <a:outerShdw sx="100000" sy="100000" kx="0" ky="0" algn="bl" rotWithShape="0" blurRad="4.366135412293574e+41" dist="2.183067706146787e+41" dir="1.632586752e+50">
              <a:srgbClr val="1E2B23">
                <a:alpha val="2.2e+4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7947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9D8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传统方式记一餐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分钟</a:t>
            </a:r>
            <a:pPr indent="0" marL="0">
              <a:buNone/>
            </a:pPr>
            <a:r>
              <a:rPr lang="en-US" sz="1400" dirty="0">
                <a:solidFill>
                  <a:srgbClr val="C9D8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NutriInsight 一句话 </a:t>
            </a:r>
            <a:pPr indent="0" marL="0">
              <a:buNone/>
            </a:pPr>
            <a:r>
              <a:rPr lang="en-US" sz="1400" b="1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秒内出结果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51560" y="32918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产品定位与核心价值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852160" y="420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F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6459"/>
          </a:xfrm>
          <a:prstGeom prst="rect">
            <a:avLst/>
          </a:prstGeom>
          <a:solidFill>
            <a:srgbClr val="2C57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一句话，</a:t>
            </a:r>
            <a:pPr algn="ctr" indent="0" marL="0">
              <a:buNone/>
            </a:pPr>
            <a:r>
              <a:rPr lang="en-US" sz="3400" b="1" spc="300" kern="0" dirty="0">
                <a:solidFill>
                  <a:srgbClr val="F0C89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读懂你的每一餐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your meal, see your nutrition.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938528" cy="1417320"/>
          </a:xfrm>
          <a:prstGeom prst="rect">
            <a:avLst/>
          </a:prstGeom>
          <a:solidFill>
            <a:srgbClr val="1E5039"/>
          </a:solidFill>
          <a:ln w="12700">
            <a:solidFill>
              <a:srgbClr val="2C6B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63240"/>
            <a:ext cx="1938528" cy="45720"/>
          </a:xfrm>
          <a:prstGeom prst="rect">
            <a:avLst/>
          </a:prstGeom>
          <a:solidFill>
            <a:srgbClr val="F0C892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零门槛记录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" y="3776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说人话即可，无需查表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51176" y="3063240"/>
            <a:ext cx="1938528" cy="1417320"/>
          </a:xfrm>
          <a:prstGeom prst="rect">
            <a:avLst/>
          </a:prstGeom>
          <a:solidFill>
            <a:srgbClr val="1E5039"/>
          </a:solidFill>
          <a:ln w="12700">
            <a:solidFill>
              <a:srgbClr val="2C6B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3063240"/>
            <a:ext cx="19385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自动识别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3776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食材、饮品、份量全自动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5152" y="3063240"/>
            <a:ext cx="1938528" cy="1417320"/>
          </a:xfrm>
          <a:prstGeom prst="rect">
            <a:avLst/>
          </a:prstGeom>
          <a:solidFill>
            <a:srgbClr val="1E5039"/>
          </a:solidFill>
          <a:ln w="12700">
            <a:solidFill>
              <a:srgbClr val="2C6B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3063240"/>
            <a:ext cx="1938528" cy="45720"/>
          </a:xfrm>
          <a:prstGeom prst="rect">
            <a:avLst/>
          </a:prstGeom>
          <a:solidFill>
            <a:srgbClr val="F0C892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科学量化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91456" y="3776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五维营养素精确到克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39128" y="3063240"/>
            <a:ext cx="1938528" cy="1417320"/>
          </a:xfrm>
          <a:prstGeom prst="rect">
            <a:avLst/>
          </a:prstGeom>
          <a:solidFill>
            <a:srgbClr val="1E5039"/>
          </a:solidFill>
          <a:ln w="12700">
            <a:solidFill>
              <a:srgbClr val="2C6B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128" y="3063240"/>
            <a:ext cx="19385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22" name="Text 20"/>
          <p:cNvSpPr/>
          <p:nvPr/>
        </p:nvSpPr>
        <p:spPr>
          <a:xfrm>
            <a:off x="6885432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个性化建议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85432" y="3776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目标驱动，餐后即反馈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系统架构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5120640" cy="841248"/>
          </a:xfrm>
          <a:prstGeom prst="rect">
            <a:avLst/>
          </a:prstGeom>
          <a:solidFill>
            <a:srgbClr val="2E6B4F"/>
          </a:solidFill>
          <a:ln/>
          <a:effectLst>
            <a:outerShdw sx="100000" sy="100000" kx="0" ky="0" algn="bl" rotWithShape="0" blurRad="5.544991973612839e+45" dist="2.7724959868064195e+45" dir="9.795520512e+54">
              <a:srgbClr val="1E2B23">
                <a:alpha val="2.2e+5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82296" cy="8412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35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· Vite · TypeScript · Recharts   </a:t>
            </a:r>
            <a:pPr indent="0" marL="0">
              <a:buNone/>
            </a:pPr>
            <a:r>
              <a:rPr lang="en-US" sz="1050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/ 仪表盘 / 趋势可视化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2167128"/>
            <a:ext cx="0" cy="292608"/>
          </a:xfrm>
          <a:prstGeom prst="line">
            <a:avLst/>
          </a:prstGeom>
          <a:noFill/>
          <a:ln w="19050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459736"/>
            <a:ext cx="5120640" cy="841248"/>
          </a:xfrm>
          <a:prstGeom prst="rect">
            <a:avLst/>
          </a:prstGeom>
          <a:solidFill>
            <a:srgbClr val="256049"/>
          </a:solidFill>
          <a:ln/>
          <a:effectLst>
            <a:outerShdw sx="100000" sy="100000" kx="0" ky="0" algn="bl" rotWithShape="0" blurRad="7.042139806488305e+49" dist="3.5210699032441527e+49" dir="5.8773123072e+59">
              <a:srgbClr val="1E2B23">
                <a:alpha val="2.2e+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59736"/>
            <a:ext cx="82296" cy="841248"/>
          </a:xfrm>
          <a:prstGeom prst="rect">
            <a:avLst/>
          </a:prstGeom>
          <a:solidFill>
            <a:srgbClr val="F0C89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94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2916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· TypeScript · JWT 认证   </a:t>
            </a:r>
            <a:pPr indent="0" marL="0">
              <a:buNone/>
            </a:pPr>
            <a:r>
              <a:rPr lang="en-US" sz="1050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/ 业务逻辑 / 数据校验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3300984"/>
            <a:ext cx="0" cy="292608"/>
          </a:xfrm>
          <a:prstGeom prst="line">
            <a:avLst/>
          </a:prstGeom>
          <a:noFill/>
          <a:ln w="19050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593592"/>
            <a:ext cx="5120640" cy="841248"/>
          </a:xfrm>
          <a:prstGeom prst="rect">
            <a:avLst/>
          </a:prstGeom>
          <a:solidFill>
            <a:srgbClr val="17402D"/>
          </a:solidFill>
          <a:ln/>
          <a:effectLst>
            <a:outerShdw sx="100000" sy="100000" kx="0" ky="0" algn="bl" rotWithShape="0" blurRad="8.943517554240149e+53" dist="4.471758777120074e+53" dir="3.52638738432e+64">
              <a:srgbClr val="1E2B23">
                <a:alpha val="2.2e+6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93592"/>
            <a:ext cx="82296" cy="8412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Database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050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(Neon) · Drizzle ORM   </a:t>
            </a:r>
            <a:pPr indent="0" marL="0">
              <a:buNone/>
            </a:pPr>
            <a:r>
              <a:rPr lang="en-US" sz="1050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用户档案 / 餐食记录 / 营养目标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459736"/>
            <a:ext cx="2514600" cy="1371600"/>
          </a:xfrm>
          <a:prstGeom prst="rect">
            <a:avLst/>
          </a:prstGeom>
          <a:solidFill>
            <a:srgbClr val="E07A3F"/>
          </a:solidFill>
          <a:ln/>
          <a:effectLst>
            <a:outerShdw sx="100000" sy="100000" kx="0" ky="0" algn="bl" rotWithShape="0" blurRad="1.1358267293884988e+58" dist="5.679133646942494e+57" dir="2.115832430592e+69">
              <a:srgbClr val="1E2B23">
                <a:alpha val="2.2e+6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73368" y="258775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73368" y="297180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deepseek-chat · JSON Mode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145536"/>
            <a:ext cx="594360" cy="0"/>
          </a:xfrm>
          <a:prstGeom prst="line">
            <a:avLst/>
          </a:prstGeom>
          <a:noFill/>
          <a:ln w="19050">
            <a:solidFill>
              <a:srgbClr val="6E7D72"/>
            </a:solidFill>
            <a:prstDash val="dash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部署：GitHub → Render 自动构建 · 前后端一体托管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核心工作流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1847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4424999463233936e+62" dist="7.212499731616968e+61" dir="1.2694994583552e+74">
              <a:srgbClr val="1E2B23">
                <a:alpha val="2.2e+7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184708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描述餐食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2432304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「一碗米饭，一份红烧肉，一杯 250 毫升牛奶」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04288" y="2331720"/>
            <a:ext cx="219456" cy="0"/>
          </a:xfrm>
          <a:prstGeom prst="line">
            <a:avLst/>
          </a:prstGeom>
          <a:noFill/>
          <a:ln w="25400">
            <a:solidFill>
              <a:srgbClr val="E07A3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23744" y="1371600"/>
            <a:ext cx="1847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83197493183071e+66" dist="9.15987465915355e+65" dir="7.6169967501312e+78">
              <a:srgbClr val="1E2B23">
                <a:alpha val="2.2000000000000002e+7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23744" y="1371600"/>
            <a:ext cx="184708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5" name="Text 13"/>
          <p:cNvSpPr/>
          <p:nvPr/>
        </p:nvSpPr>
        <p:spPr>
          <a:xfrm>
            <a:off x="2688336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88336" y="20299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识别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88336" y="2432304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拆解食材饮品，估算份量克数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2331720"/>
            <a:ext cx="219456" cy="0"/>
          </a:xfrm>
          <a:prstGeom prst="line">
            <a:avLst/>
          </a:prstGeom>
          <a:noFill/>
          <a:ln w="25400">
            <a:solidFill>
              <a:srgbClr val="E07A3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1371600"/>
            <a:ext cx="1847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2.3266081634250016e+70" dist="1.1633040817125008e+70" dir="4.57019805007872e+83">
              <a:srgbClr val="1E2B23">
                <a:alpha val="2.2000000000000003e+8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0288" y="1371600"/>
            <a:ext cx="184708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20299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营养拆解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2432304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热量 / 蛋白 / 碳水 / 脂肪 / 纤维 五维计算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37376" y="2331720"/>
            <a:ext cx="219456" cy="0"/>
          </a:xfrm>
          <a:prstGeom prst="line">
            <a:avLst/>
          </a:prstGeom>
          <a:noFill/>
          <a:ln w="25400">
            <a:solidFill>
              <a:srgbClr val="E07A3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56832" y="1371600"/>
            <a:ext cx="1847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2.954792367549752e+74" dist="1.477396183774876e+74" dir="2.742118830047232e+88">
              <a:srgbClr val="1E2B23">
                <a:alpha val="2.2000000000000003e+8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56832" y="1371600"/>
            <a:ext cx="184708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27" name="Text 25"/>
          <p:cNvSpPr/>
          <p:nvPr/>
        </p:nvSpPr>
        <p:spPr>
          <a:xfrm>
            <a:off x="6821424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21424" y="20299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即时建议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21424" y="2432304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对比目标生成健康评分与优化方向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2ECDD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03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全程约 </a:t>
            </a:r>
            <a:pPr indent="0" marL="0">
              <a:buNone/>
            </a:pPr>
            <a:r>
              <a:rPr lang="en-US" sz="1500" b="1" dirty="0">
                <a:solidFill>
                  <a:srgbClr val="2E6B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 秒</a:t>
            </a:r>
            <a:pPr indent="0" marL="0">
              <a:buNone/>
            </a:pPr>
            <a:r>
              <a:rPr lang="en-US" sz="130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，用户只需一句话；份量估算、营养计算、目标比对全部由系统自动完成。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识别模块详解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657600" cy="512064"/>
          </a:xfrm>
          <a:prstGeom prst="rect">
            <a:avLst/>
          </a:prstGeom>
          <a:solidFill>
            <a:srgbClr val="2E6B4F"/>
          </a:solidFill>
          <a:ln/>
          <a:effectLst>
            <a:outerShdw sx="100000" sy="100000" kx="0" ky="0" algn="bl" rotWithShape="0" blurRad="3.752586306788185e+78" dist="1.8762931533940924e+78" dir="1.6452712980283393e+93">
              <a:srgbClr val="1E2B23">
                <a:alpha val="2.2e+9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用户描述 + 餐次 + 过敏原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1792224"/>
            <a:ext cx="0" cy="201168"/>
          </a:xfrm>
          <a:prstGeom prst="line">
            <a:avLst/>
          </a:prstGeom>
          <a:noFill/>
          <a:ln w="19050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3657600" cy="512064"/>
          </a:xfrm>
          <a:prstGeom prst="rect">
            <a:avLst/>
          </a:prstGeom>
          <a:solidFill>
            <a:srgbClr val="2E6B4F"/>
          </a:solidFill>
          <a:ln/>
          <a:effectLst>
            <a:outerShdw sx="100000" sy="100000" kx="0" ky="0" algn="bl" rotWithShape="0" blurRad="4.765784609620995e+82" dist="2.3828923048104974e+82" dir="9.871627788170035e+97">
              <a:srgbClr val="1E2B23">
                <a:alpha val="2.2000000000000003e+9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9933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组装营养师 System Prompt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2505456"/>
            <a:ext cx="0" cy="201168"/>
          </a:xfrm>
          <a:prstGeom prst="line">
            <a:avLst/>
          </a:prstGeom>
          <a:noFill/>
          <a:ln w="19050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706624"/>
            <a:ext cx="3657600" cy="512064"/>
          </a:xfrm>
          <a:prstGeom prst="rect">
            <a:avLst/>
          </a:prstGeom>
          <a:solidFill>
            <a:srgbClr val="E07A3F"/>
          </a:solidFill>
          <a:ln/>
          <a:effectLst>
            <a:outerShdw sx="100000" sy="100000" kx="0" ky="0" algn="bl" rotWithShape="0" blurRad="6.052546454218663e+86" dist="3.0262732271093317e+86" dir="5.922976672902021e+102">
              <a:srgbClr val="1E2B23">
                <a:alpha val="2.2000000000000003e+10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7066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DeepSeek Chat（JSON Mode）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3218688"/>
            <a:ext cx="0" cy="201168"/>
          </a:xfrm>
          <a:prstGeom prst="line">
            <a:avLst/>
          </a:prstGeom>
          <a:noFill/>
          <a:ln w="19050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419856"/>
            <a:ext cx="3657600" cy="512064"/>
          </a:xfrm>
          <a:prstGeom prst="rect">
            <a:avLst/>
          </a:prstGeom>
          <a:solidFill>
            <a:srgbClr val="2E6B4F"/>
          </a:solidFill>
          <a:ln/>
          <a:effectLst>
            <a:outerShdw sx="100000" sy="100000" kx="0" ky="0" algn="bl" rotWithShape="0" blurRad="7.6867339968577025e+90" dist="3.8433669984288512e+90" dir="3.5537860037412126e+107">
              <a:srgbClr val="1E2B23">
                <a:alpha val="2.2000000000000003e+10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419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zod Schema 运行时校验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3931920"/>
            <a:ext cx="0" cy="201168"/>
          </a:xfrm>
          <a:prstGeom prst="line">
            <a:avLst/>
          </a:prstGeom>
          <a:noFill/>
          <a:ln w="19050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4133088"/>
            <a:ext cx="3657600" cy="512064"/>
          </a:xfrm>
          <a:prstGeom prst="rect">
            <a:avLst/>
          </a:prstGeom>
          <a:solidFill>
            <a:srgbClr val="2E6B4F"/>
          </a:solidFill>
          <a:ln/>
          <a:effectLst>
            <a:outerShdw sx="100000" sy="100000" kx="0" ky="0" algn="bl" rotWithShape="0" blurRad="9.762152176009283e+94" dist="4.8810760880046414e+94" dir="2.1322716022447277e+112">
              <a:srgbClr val="1E2B23">
                <a:alpha val="2.2000000000000003e+11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1330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舍入 / 单位规范化返回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26280" y="128016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2397933263531789e+99" dist="6.198966631765894e+98" dir="1.2793629613468367e+117">
              <a:srgbClr val="1E2B23">
                <a:alpha val="2.2000000000000005e+11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1280160"/>
            <a:ext cx="416052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工程要点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Mode 强制结构化输出，杜绝自由文本解析失败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zod 校验字段类型与范围，异常输入返回友好中文提示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 / 5xx / 网络抖动自动重试，识别成功率保障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饮品按 1ml≈1g 计重；白开水、无糖茶营养记 0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个人过敏原自动注入提示词，主动规避风险食材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数据模型与个性化目标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Personalization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468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574537524468537e+103" dist="7.872687622342685e+102" dir="7.67617776808102e+121">
              <a:srgbClr val="1E2B23">
                <a:alpha val="2.2000000000000006e+12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46888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用户档案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身高 · 体重 · 年龄 · 性别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活动量 · 减脂/维持/增肌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过敏原与偏好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354580"/>
            <a:ext cx="411480" cy="0"/>
          </a:xfrm>
          <a:prstGeom prst="line">
            <a:avLst/>
          </a:prstGeom>
          <a:noFill/>
          <a:ln w="25400">
            <a:solidFill>
              <a:srgbClr val="E07A3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468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9996626560750422e+107" dist="9.998313280375211e+106" dir="4.605706660848612e+126">
              <a:srgbClr val="1E2B23">
                <a:alpha val="2.2000000000000006e+12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71600"/>
            <a:ext cx="2468880" cy="45720"/>
          </a:xfrm>
          <a:prstGeom prst="rect">
            <a:avLst/>
          </a:prstGeom>
          <a:solidFill>
            <a:srgbClr val="256049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目标计算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1993392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Mifflin-St Jeor 公式算 BMR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活动系数得 TDEE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按目标调整热量缺口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354580"/>
            <a:ext cx="411480" cy="0"/>
          </a:xfrm>
          <a:prstGeom prst="line">
            <a:avLst/>
          </a:prstGeom>
          <a:noFill/>
          <a:ln w="25400">
            <a:solidFill>
              <a:srgbClr val="E07A3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1371600"/>
            <a:ext cx="2468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2.5395715732153033e+111" dist="1.2697857866076517e+111" dir="2.763423996509167e+131">
              <a:srgbClr val="1E2B23">
                <a:alpha val="2.2000000000000004e+13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71600"/>
            <a:ext cx="2468880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每日营养目标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1993392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热量 / 蛋白质 / 碳水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脂肪 / 膳食纤维 五维标准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驱动仪表盘与缺口分析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17402D"/>
          </a:solidFill>
          <a:ln/>
          <a:effectLst>
            <a:outerShdw sx="100000" sy="100000" kx="0" ky="0" algn="bl" rotWithShape="0" blurRad="3.2252558979834354e+115" dist="1.6126279489917177e+115" dir="1.6580543979055003e+136">
              <a:srgbClr val="1E2B23">
                <a:alpha val="2.2000000000000005e+13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703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D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 → 目标 → 每餐记录 → 7/30 天趋势对比 → 营养缺口提醒，全部基于 PostgreSQL 持久化，按用户隔离（JWT）。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功能全景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262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4.0960749904389626e+119" dist="2.0480374952194813e+119" dir="9.948326387433001e+140">
              <a:srgbClr val="1E2B23">
                <a:alpha val="2.2000000000000006e+1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食物识别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一句话识别食材饮品与份量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55264" y="1234440"/>
            <a:ext cx="262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5.2020152378574823e+123" dist="2.6010076189287412e+123" dir="5.9689958324598e+145">
              <a:srgbClr val="1E2B23">
                <a:alpha val="2.2000000000000004e+14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234440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435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全营养素拆解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38144" y="1874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五维数据，按份量精确到克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53328" y="1234440"/>
            <a:ext cx="262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6.606559352079002e+127" dist="3.303279676039501e+127" dir="3.58139749947588e+150">
              <a:srgbClr val="1E2B23">
                <a:alpha val="2.2000000000000004e+15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234440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43560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个性化目标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36208" y="1874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BMR/TDEE 科学定制每日标准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262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8.390330377140333e+131" dist="4.195165188570166e+131" dir="2.148838499685528e+155">
              <a:srgbClr val="1E2B23">
                <a:alpha val="2.2000000000000003e+1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98648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98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过敏原提醒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35387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档案注入识别，主动规避风险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55264" y="2898648"/>
            <a:ext cx="262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0655719578968222e+136" dist="5.327859789484111e+135" dir="1.2893030998113169e+160">
              <a:srgbClr val="1E2B23">
                <a:alpha val="2.2000000000000003e+16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55264" y="2898648"/>
            <a:ext cx="2624328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5" name="Text 23"/>
          <p:cNvSpPr/>
          <p:nvPr/>
        </p:nvSpPr>
        <p:spPr>
          <a:xfrm>
            <a:off x="3438144" y="30998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趋势仪表盘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438144" y="35387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7/30 天趋势与营养缺口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53328" y="2898648"/>
            <a:ext cx="262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3532763865289643e+140" dist="6.766381932644821e+139" dir="7.735818598867901e+164">
              <a:srgbClr val="1E2B23">
                <a:alpha val="2.2000000000000004e+16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53328" y="2898648"/>
            <a:ext cx="2624328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30998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即时健康建议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236208" y="35387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每餐评分与下一餐优化方向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以上功能均已实现并通过本地全链路验证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实测验证 · 真实案例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.7186610108917847e+144" dist="8.593305054458923e+143" dir="4.641491159320741e+169">
              <a:srgbClr val="1E2B23">
                <a:alpha val="2.2e+17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「一碗米饭，一份红烧肉，一杯 250 毫升牛奶，一个苹果」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31920" cy="1828800"/>
          </a:xfrm>
          <a:prstGeom prst="rect">
            <a:avLst/>
          </a:prstGeom>
          <a:solidFill>
            <a:srgbClr val="17402D"/>
          </a:solidFill>
          <a:ln/>
          <a:effectLst>
            <a:outerShdw sx="100000" sy="100000" kx="0" ky="0" algn="bl" rotWithShape="0" blurRad="2.1826994838325667e+148" dist="1.0913497419162833e+148" dir="2.7848946955924445e+174">
              <a:srgbClr val="1E2B23">
                <a:alpha val="2.2000000000000003e+17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3529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D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4 种食物，合计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0C8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941 kcal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5ED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，输出结构化 JSON 并通过校验，全程约 8 秒。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232 kcal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红烧肉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 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 kcal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牛奶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 ml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135 kcal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苹果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 kcal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B2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A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941 kcal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验证项：双端 typecheck · 注册登录 · JWT 鉴权 · 识别接口 · 建表迁移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部署与运维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2.77202834446736e+152" dist="1.38601417223368e+152" dir="1.6709368173554668e+179">
              <a:srgbClr val="1E2B23">
                <a:alpha val="2.2000000000000004e+18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37744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代码托管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触发自动部署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240280"/>
            <a:ext cx="502920" cy="0"/>
          </a:xfrm>
          <a:prstGeom prst="line">
            <a:avLst/>
          </a:prstGeom>
          <a:noFill/>
          <a:ln w="22225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3.520475997473547e+156" dist="1.7602379987367734e+156" dir="1.00256209041328e+184">
              <a:srgbClr val="1E2B23">
                <a:alpha val="2.2000000000000003e+18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71600"/>
            <a:ext cx="2377440" cy="45720"/>
          </a:xfrm>
          <a:prstGeom prst="rect">
            <a:avLst/>
          </a:prstGeom>
          <a:solidFill>
            <a:srgbClr val="256049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554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20440" y="20299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云端构建与运行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 后端 + 前端静态托管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240280"/>
            <a:ext cx="502920" cy="0"/>
          </a:xfrm>
          <a:prstGeom prst="line">
            <a:avLst/>
          </a:prstGeom>
          <a:noFill/>
          <a:ln w="22225">
            <a:solidFill>
              <a:srgbClr val="6E7D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137160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4.471004516791404e+160" dist="2.235502258395702e+160" dir="6.01537254247968e+188">
              <a:srgbClr val="1E2B23">
                <a:alpha val="2.2000000000000004e+19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71600"/>
            <a:ext cx="2377440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554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20299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PostgreSQL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云数据库常驻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5.678175736325083e+164" dist="2.8390878681625417e+164" dir="3.609223525487808e+193">
              <a:srgbClr val="1E2B23">
                <a:alpha val="2.2000000000000006e+19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29000"/>
            <a:ext cx="822960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密钥管理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3977640"/>
            <a:ext cx="7717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DEEPSEEK_API_KEY / DATABASE_URL / JWT_SECRET 全部存放于平台环境变量，不进入代码仓库；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D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git push 自动触发重新构建与上线，零人工运维。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32688" y="274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1E2B2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总结与展望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384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D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16459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96112"/>
            <a:ext cx="1005840" cy="41148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7.211283185132856e+168" dist="3.605641592566428e+168" dir="2.165534115292685e+198">
              <a:srgbClr val="1E2B23">
                <a:alpha val="2.2000000000000007e+20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4023360" cy="4572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499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2E6B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已实现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2057400"/>
            <a:ext cx="35112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AI 食物识别链路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完整营养管理闭环（记录/目标/趋势）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云端部署上线，自动化发布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9.158329645118728e+172" dist="4.579164822559364e+172" dir="1.299320469175611e+203">
              <a:srgbClr val="1E2B23">
                <a:alpha val="2.2000000000000006e+20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4023360" cy="457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499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07A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下一步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19472" y="2057400"/>
            <a:ext cx="35112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拍照识别食物（视觉模型）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运动与体重数据联动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E2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家庭/好友共享健康报告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NutriInsight</a:t>
            </a:r>
            <a:pPr algn="ctr" indent="0" marL="0">
              <a:buNone/>
            </a:pPr>
            <a:r>
              <a:rPr lang="en-US" sz="4000" b="1" spc="250" kern="0" dirty="0">
                <a:solidFill>
                  <a:srgbClr val="F0C8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EAF3E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谢谢观看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github.com/cool-man25/nutriinsight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NutriInsight Pro 系统讲解</dc:title>
  <dc:subject>PptxGenJS Presentation</dc:subject>
  <dc:creator>NutriInsight Pro</dc:creator>
  <cp:lastModifiedBy>NutriInsight Pro</cp:lastModifiedBy>
  <cp:revision>1</cp:revision>
  <dcterms:created xsi:type="dcterms:W3CDTF">2026-10-26T11:58:35Z</dcterms:created>
  <dcterms:modified xsi:type="dcterms:W3CDTF">2026-10-26T11:58:35Z</dcterms:modified>
</cp:coreProperties>
</file>